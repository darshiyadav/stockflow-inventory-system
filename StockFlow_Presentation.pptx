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5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4008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F5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onsolas"/>
              </a:rPr>
              <a:t>SF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13232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71B23"/>
                </a:solidFill>
                <a:latin typeface="Georgia"/>
              </a:rPr>
              <a:t>StockFlow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F5FD6"/>
                </a:solidFill>
                <a:latin typeface="Consolas"/>
              </a:rPr>
              <a:t>PROJECT STATUS · DEMO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058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171B23"/>
                </a:solidFill>
                <a:latin typeface="Georgia"/>
              </a:rPr>
              <a:t>Inventory &amp; asset tracking,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171B23"/>
                </a:solidFill>
                <a:latin typeface="Georgia"/>
              </a:rPr>
              <a:t>built and verified.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4C5563"/>
                </a:solidFill>
                <a:latin typeface="Calibri"/>
              </a:rPr>
              <a:t>A working audit of what StockFlow does today, who can do what in it, and the checks run against every endpoint ahead of this walkthrough.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A92A3"/>
                </a:solidFill>
                <a:latin typeface="Consolas"/>
              </a:rPr>
              <a:t>RPT-2026-09-15</a:t>
            </a:r>
            <a:r>
              <a:rPr sz="1100" b="0" i="0">
                <a:solidFill>
                  <a:srgbClr val="8A92A3"/>
                </a:solidFill>
                <a:latin typeface="Calibri"/>
              </a:rPr>
              <a:t>   ·   Prepared for demo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8A92A3"/>
                </a:solidFill>
                <a:latin typeface="Consolas"/>
              </a:rPr>
              <a:t>STOCKFLOW</a:t>
            </a:r>
            <a:r>
              <a:rPr sz="900" b="0" i="0">
                <a:solidFill>
                  <a:srgbClr val="8A92A3"/>
                </a:solidFill>
                <a:latin typeface="Calibri"/>
              </a:rPr>
              <a:t>  ·  internal inventory &amp; asset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92A3"/>
                </a:solidFill>
                <a:latin typeface="Consolas"/>
              </a:rP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F5FD6"/>
                </a:solidFill>
                <a:latin typeface="Consolas"/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71B23"/>
                </a:solidFill>
                <a:latin typeface="Georgia"/>
              </a:rPr>
              <a:t>Where the project stands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542032" cy="2103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2542032" cy="7315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848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5803D"/>
                </a:solidFill>
                <a:latin typeface="Consolas"/>
              </a:rPr>
              <a:t>98 / 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2084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71B23"/>
                </a:solidFill>
                <a:latin typeface="Calibri"/>
              </a:rPr>
              <a:t>Backend tests passing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429000"/>
            <a:ext cx="2084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8A92A3"/>
                </a:solidFill>
                <a:latin typeface="Calibri"/>
              </a:rPr>
              <a:t>incl. RBAC boundaries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93592" y="1920240"/>
            <a:ext cx="2542032" cy="2103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93592" y="1920240"/>
            <a:ext cx="2542032" cy="73152"/>
          </a:xfrm>
          <a:prstGeom prst="rect">
            <a:avLst/>
          </a:prstGeom>
          <a:solidFill>
            <a:srgbClr val="2F5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22192" y="2240280"/>
            <a:ext cx="20848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F5FD6"/>
                </a:solidFill>
                <a:latin typeface="Consola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2" y="3063240"/>
            <a:ext cx="2084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71B23"/>
                </a:solidFill>
                <a:latin typeface="Calibri"/>
              </a:rPr>
              <a:t>Roles supported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2" y="3429000"/>
            <a:ext cx="2084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8A92A3"/>
                </a:solidFill>
                <a:latin typeface="Calibri"/>
              </a:rPr>
              <a:t>admin · manager · employee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4224" y="1920240"/>
            <a:ext cx="2542032" cy="2103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64224" y="1920240"/>
            <a:ext cx="2542032" cy="73152"/>
          </a:xfrm>
          <a:prstGeom prst="rect">
            <a:avLst/>
          </a:prstGeom>
          <a:solidFill>
            <a:srgbClr val="2F5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2824" y="2240280"/>
            <a:ext cx="20848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F5FD6"/>
                </a:solidFill>
                <a:latin typeface="Consola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3063240"/>
            <a:ext cx="2084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71B23"/>
                </a:solidFill>
                <a:latin typeface="Calibri"/>
              </a:rPr>
              <a:t>Core tables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2824" y="3429000"/>
            <a:ext cx="2084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8A92A3"/>
                </a:solidFill>
                <a:latin typeface="Calibri"/>
              </a:rPr>
              <a:t>users, products, stock, assets, history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34856" y="1920240"/>
            <a:ext cx="2542032" cy="2103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34856" y="1920240"/>
            <a:ext cx="2542032" cy="7315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3456" y="2240280"/>
            <a:ext cx="20848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5803D"/>
                </a:solidFill>
                <a:latin typeface="Consolas"/>
              </a:rPr>
              <a:t>Passed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3063240"/>
            <a:ext cx="2084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71B23"/>
                </a:solidFill>
                <a:latin typeface="Calibri"/>
              </a:rPr>
              <a:t>Live endpoint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3429000"/>
            <a:ext cx="2084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8A92A3"/>
                </a:solidFill>
                <a:latin typeface="Calibri"/>
              </a:rPr>
              <a:t>run against dev server, 2026-09-14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4348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0">
                <a:solidFill>
                  <a:srgbClr val="4C5563"/>
                </a:solidFill>
                <a:latin typeface="Calibri"/>
              </a:rPr>
              <a:t>The whole system is built around one idea: a product's quantity is never a number that lives in a row waiting to be edited. It's a total, calculated fresh every time by summing every stock transaction ever recorded against it — a ledger, the same way a bank balance is a ledger, not a single editable field.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8A92A3"/>
                </a:solidFill>
                <a:latin typeface="Consolas"/>
              </a:rPr>
              <a:t>STOCKFLOW</a:t>
            </a:r>
            <a:r>
              <a:rPr sz="900" b="0" i="0">
                <a:solidFill>
                  <a:srgbClr val="8A92A3"/>
                </a:solidFill>
                <a:latin typeface="Calibri"/>
              </a:rPr>
              <a:t>  ·  internal inventory &amp; asset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92A3"/>
                </a:solidFill>
                <a:latin typeface="Consolas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94360"/>
            <a:ext cx="502920" cy="292608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8A92A3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4864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71B23"/>
                </a:solidFill>
                <a:latin typeface="Georgia"/>
              </a:rPr>
              <a:t>What it does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1234440"/>
            <a:ext cx="10515600" cy="0"/>
          </a:xfrm>
          <a:prstGeom prst="line">
            <a:avLst/>
          </a:prstGeom>
          <a:ln w="12700">
            <a:solidFill>
              <a:srgbClr val="DD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6002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F5FD6"/>
                </a:solidFill>
                <a:latin typeface="Calibri"/>
              </a:rPr>
              <a:t>Bulk stock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4C5563"/>
                </a:solidFill>
                <a:latin typeface="Calibri"/>
              </a:rPr>
              <a:t>Laptops, monitors, keyboards, mice — counted by quantity, not tracked individually. Every stock-in and stock-out is its own ledger row; the on-hand count is the sum of all of them, always.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6002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F5FD6"/>
                </a:solidFill>
                <a:latin typeface="Calibri"/>
              </a:rPr>
              <a:t>Trackable assets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05740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4C5563"/>
                </a:solidFill>
                <a:latin typeface="Calibri"/>
              </a:rPr>
              <a:t>A specific laptop with a specific serial number, assigned to one employee at a time. Every assign and return appends a row to the asset's history — nothing is ever silently overwritten.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49039"/>
            <a:ext cx="10515600" cy="196596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02336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2000" b="1" i="1">
                <a:solidFill>
                  <a:srgbClr val="171B23"/>
                </a:solidFill>
                <a:latin typeface="Georgia"/>
              </a:rPr>
              <a:t>"Who has AST-004 had it, and when?"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500" b="0" i="0">
                <a:solidFill>
                  <a:srgbClr val="4C5563"/>
                </a:solidFill>
                <a:latin typeface="Calibri"/>
              </a:rPr>
              <a:t>The app can always answer — because the answer was never anything but a stored fact, not a value that could have been changed.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8A92A3"/>
                </a:solidFill>
                <a:latin typeface="Consolas"/>
              </a:rPr>
              <a:t>STOCKFLOW</a:t>
            </a:r>
            <a:r>
              <a:rPr sz="900" b="0" i="0">
                <a:solidFill>
                  <a:srgbClr val="8A92A3"/>
                </a:solidFill>
                <a:latin typeface="Calibri"/>
              </a:rPr>
              <a:t>  ·  internal inventory &amp; asset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92A3"/>
                </a:solidFill>
                <a:latin typeface="Consolas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94360"/>
            <a:ext cx="502920" cy="292608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8A92A3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4864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71B23"/>
                </a:solidFill>
                <a:latin typeface="Georgia"/>
              </a:rPr>
              <a:t>Who can do what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1234440"/>
            <a:ext cx="10515600" cy="0"/>
          </a:xfrm>
          <a:prstGeom prst="line">
            <a:avLst/>
          </a:prstGeom>
          <a:ln w="12700">
            <a:solidFill>
              <a:srgbClr val="DD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22960" y="1645920"/>
            <a:ext cx="10515600" cy="502920"/>
          </a:xfrm>
          <a:prstGeom prst="rect">
            <a:avLst/>
          </a:prstGeom>
          <a:solidFill>
            <a:srgbClr val="171B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</a:rPr>
              <a:t>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645920"/>
            <a:ext cx="143560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8" y="1645920"/>
            <a:ext cx="143560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</a:rPr>
              <a:t>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74936" y="1645920"/>
            <a:ext cx="14264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</a:rPr>
              <a:t>EMPLOYEE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148840"/>
            <a:ext cx="10515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148840"/>
            <a:ext cx="5120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71B23"/>
                </a:solidFill>
                <a:latin typeface="Calibri"/>
              </a:rPr>
              <a:t>View dashboard &amp; recent activity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48840"/>
            <a:ext cx="1709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5803D"/>
                </a:solidFill>
                <a:latin typeface="Calibri"/>
              </a:rPr>
              <a:t>Full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2148840"/>
            <a:ext cx="1709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A5610A"/>
                </a:solidFill>
                <a:latin typeface="Calibri"/>
              </a:rPr>
              <a:t>Counts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37776" y="2148840"/>
            <a:ext cx="170078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92A3"/>
                </a:solidFill>
                <a:latin typeface="Calibri"/>
              </a:rP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679192"/>
            <a:ext cx="10515600" cy="530352"/>
          </a:xfrm>
          <a:prstGeom prst="rect">
            <a:avLst/>
          </a:prstGeom>
          <a:solidFill>
            <a:srgbClr val="F3F5F8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679192"/>
            <a:ext cx="5120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71B23"/>
                </a:solidFill>
                <a:latin typeface="Calibri"/>
              </a:rPr>
              <a:t>Manage products &amp; 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79192"/>
            <a:ext cx="1709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5803D"/>
                </a:solidFill>
                <a:latin typeface="Calibri"/>
              </a:rPr>
              <a:t>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8" y="2679192"/>
            <a:ext cx="1709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92A3"/>
                </a:solidFill>
                <a:latin typeface="Calibri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7776" y="2679192"/>
            <a:ext cx="170078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92A3"/>
                </a:solidFill>
                <a:latin typeface="Calibri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209544"/>
            <a:ext cx="10515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209544"/>
            <a:ext cx="5120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71B23"/>
                </a:solidFill>
                <a:latin typeface="Calibri"/>
              </a:rPr>
              <a:t>Create / assign / return assets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209544"/>
            <a:ext cx="1709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5803D"/>
                </a:solidFill>
                <a:latin typeface="Calibri"/>
              </a:rPr>
              <a:t>Yes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7848" y="3209544"/>
            <a:ext cx="1709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5803D"/>
                </a:solidFill>
                <a:latin typeface="Calibri"/>
              </a:rPr>
              <a:t>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37776" y="3209544"/>
            <a:ext cx="170078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92A3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739896"/>
            <a:ext cx="10515600" cy="530352"/>
          </a:xfrm>
          <a:prstGeom prst="rect">
            <a:avLst/>
          </a:prstGeom>
          <a:solidFill>
            <a:srgbClr val="F3F5F8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739896"/>
            <a:ext cx="5120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71B23"/>
                </a:solidFill>
                <a:latin typeface="Calibri"/>
              </a:rPr>
              <a:t>View own assigned equipment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739896"/>
            <a:ext cx="1709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5803D"/>
                </a:solidFill>
                <a:latin typeface="Calibri"/>
              </a:rPr>
              <a:t>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7848" y="3739896"/>
            <a:ext cx="1709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5803D"/>
                </a:solidFill>
                <a:latin typeface="Calibri"/>
              </a:rPr>
              <a:t>Yes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7776" y="3739896"/>
            <a:ext cx="170078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5803D"/>
                </a:solidFill>
                <a:latin typeface="Calibri"/>
              </a:rPr>
              <a:t>Yes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270248"/>
            <a:ext cx="10515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270248"/>
            <a:ext cx="5120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71B23"/>
                </a:solidFill>
                <a:latin typeface="Calibri"/>
              </a:rPr>
              <a:t>Manage user accounts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270248"/>
            <a:ext cx="1709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5803D"/>
                </a:solidFill>
                <a:latin typeface="Calibri"/>
              </a:rPr>
              <a:t>Yes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7848" y="4270248"/>
            <a:ext cx="1709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92A3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4270248"/>
            <a:ext cx="170078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92A3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4800600"/>
            <a:ext cx="10515600" cy="530352"/>
          </a:xfrm>
          <a:prstGeom prst="rect">
            <a:avLst/>
          </a:prstGeom>
          <a:solidFill>
            <a:srgbClr val="F3F5F8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4800600"/>
            <a:ext cx="5120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71B23"/>
                </a:solidFill>
                <a:latin typeface="Calibri"/>
              </a:rPr>
              <a:t>Deactivate / reactivate a user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800600"/>
            <a:ext cx="1709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5803D"/>
                </a:solidFill>
                <a:latin typeface="Calibri"/>
              </a:rPr>
              <a:t>Yes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27848" y="4800600"/>
            <a:ext cx="1709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92A3"/>
                </a:solidFill>
                <a:latin typeface="Calibri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37776" y="4800600"/>
            <a:ext cx="170078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A92A3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1">
                <a:solidFill>
                  <a:srgbClr val="8A92A3"/>
                </a:solidFill>
                <a:latin typeface="Calibri"/>
              </a:rPr>
              <a:t>Every role has its own sign-in URL — a wrong-role login fails with the identical “incorrect email or password” message a wrong password would give.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8A92A3"/>
                </a:solidFill>
                <a:latin typeface="Consolas"/>
              </a:rPr>
              <a:t>STOCKFLOW</a:t>
            </a:r>
            <a:r>
              <a:rPr sz="900" b="0" i="0">
                <a:solidFill>
                  <a:srgbClr val="8A92A3"/>
                </a:solidFill>
                <a:latin typeface="Calibri"/>
              </a:rPr>
              <a:t>  ·  internal inventory &amp; asset 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92A3"/>
                </a:solidFill>
                <a:latin typeface="Consolas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94360"/>
            <a:ext cx="502920" cy="292608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8A92A3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4864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71B23"/>
                </a:solidFill>
                <a:latin typeface="Georgia"/>
              </a:rPr>
              <a:t>Recently shipped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1234440"/>
            <a:ext cx="10515600" cy="0"/>
          </a:xfrm>
          <a:prstGeom prst="line">
            <a:avLst/>
          </a:prstGeom>
          <a:ln w="12700">
            <a:solidFill>
              <a:srgbClr val="DD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66420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A92A3"/>
                </a:solidFill>
                <a:latin typeface="Consolas"/>
              </a:rPr>
              <a:t>AST-12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6002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71B23"/>
                </a:solidFill>
                <a:latin typeface="Calibri"/>
              </a:rPr>
              <a:t>Account deactivation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6720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4C5563"/>
                </a:solidFill>
                <a:latin typeface="Calibri"/>
              </a:rPr>
              <a:t>Block a resigned employee from logging in and hide them from the assign list — without deleting their name from the audit trail.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2340864"/>
            <a:ext cx="10515600" cy="0"/>
          </a:xfrm>
          <a:prstGeom prst="line">
            <a:avLst/>
          </a:prstGeom>
          <a:ln w="12700">
            <a:solidFill>
              <a:srgbClr val="DD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25603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A92A3"/>
                </a:solidFill>
                <a:latin typeface="Consolas"/>
              </a:rPr>
              <a:t>AST-13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49631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71B23"/>
                </a:solidFill>
                <a:latin typeface="Calibri"/>
              </a:rPr>
              <a:t>Edit user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50592"/>
            <a:ext cx="6720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4C5563"/>
                </a:solidFill>
                <a:latin typeface="Calibri"/>
              </a:rPr>
              <a:t>Admins can correct a name or email after the fact. New addresses must end in @staunchsys.com.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3236976"/>
            <a:ext cx="10515600" cy="0"/>
          </a:xfrm>
          <a:prstGeom prst="line">
            <a:avLst/>
          </a:prstGeom>
          <a:ln w="12700">
            <a:solidFill>
              <a:srgbClr val="DD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345643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A92A3"/>
                </a:solidFill>
                <a:latin typeface="Consolas"/>
              </a:rPr>
              <a:t>AST-14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39242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71B23"/>
                </a:solidFill>
                <a:latin typeface="Calibri"/>
              </a:rPr>
              <a:t>Numbered pagination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46704"/>
            <a:ext cx="6720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4C5563"/>
                </a:solidFill>
                <a:latin typeface="Calibri"/>
              </a:rPr>
              <a:t>Assets, Products, Users, and My Assets page five rows at a time instead of one long scroll.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133088"/>
            <a:ext cx="10515600" cy="0"/>
          </a:xfrm>
          <a:prstGeom prst="line">
            <a:avLst/>
          </a:prstGeom>
          <a:ln w="12700">
            <a:solidFill>
              <a:srgbClr val="DD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435254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A92A3"/>
                </a:solidFill>
                <a:latin typeface="Consolas"/>
              </a:rPr>
              <a:t>AST-15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28853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71B23"/>
                </a:solidFill>
                <a:latin typeface="Calibri"/>
              </a:rPr>
              <a:t>Named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42816"/>
            <a:ext cx="6720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4C5563"/>
                </a:solidFill>
                <a:latin typeface="Calibri"/>
              </a:rPr>
              <a:t>Asset history shows who assigned and who received an item by name, not a raw ID.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5029200"/>
            <a:ext cx="10515600" cy="0"/>
          </a:xfrm>
          <a:prstGeom prst="line">
            <a:avLst/>
          </a:prstGeom>
          <a:ln w="12700">
            <a:solidFill>
              <a:srgbClr val="DD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524865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A92A3"/>
                </a:solidFill>
                <a:latin typeface="Consolas"/>
              </a:rPr>
              <a:t>AST-16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18464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71B23"/>
                </a:solidFill>
                <a:latin typeface="Calibri"/>
              </a:rPr>
              <a:t>Sidebar &amp; theme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138928"/>
            <a:ext cx="6720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4C5563"/>
                </a:solidFill>
                <a:latin typeface="Calibri"/>
              </a:rPr>
              <a:t>Navigation moved to a persistent sidebar; a light/dark toggle resets to dark on every sign-in.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8A92A3"/>
                </a:solidFill>
                <a:latin typeface="Consolas"/>
              </a:rPr>
              <a:t>STOCKFLOW</a:t>
            </a:r>
            <a:r>
              <a:rPr sz="900" b="0" i="0">
                <a:solidFill>
                  <a:srgbClr val="8A92A3"/>
                </a:solidFill>
                <a:latin typeface="Calibri"/>
              </a:rPr>
              <a:t>  ·  internal inventory &amp; asset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92A3"/>
                </a:solidFill>
                <a:latin typeface="Consolas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94360"/>
            <a:ext cx="502920" cy="292608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8A92A3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4864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71B23"/>
                </a:solidFill>
                <a:latin typeface="Georgia"/>
              </a:rPr>
              <a:t>What was verified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1234440"/>
            <a:ext cx="10515600" cy="0"/>
          </a:xfrm>
          <a:prstGeom prst="line">
            <a:avLst/>
          </a:prstGeom>
          <a:ln w="12700">
            <a:solidFill>
              <a:srgbClr val="DD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50876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4C5563"/>
                </a:solidFill>
                <a:latin typeface="Calibri"/>
              </a:rPr>
              <a:t>Automated tests cover stock derivation, RBAC boundaries, and account management. Every endpoint was also hit live against the running server — not just the isolated test DB.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4C5563"/>
                </a:solidFill>
                <a:latin typeface="Calibri"/>
              </a:rPr>
              <a:t>Auth &amp; role-locked login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2478024"/>
            <a:ext cx="5486400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49039" y="2478024"/>
            <a:ext cx="1436914" cy="237744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2423160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4C5563"/>
                </a:solidFill>
                <a:latin typeface="Consolas"/>
              </a:rPr>
              <a:t>11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90088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4C5563"/>
                </a:solidFill>
                <a:latin typeface="Calibri"/>
              </a:rPr>
              <a:t>Stock &amp; product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3044952"/>
            <a:ext cx="5486400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49039" y="3044952"/>
            <a:ext cx="2220685" cy="237744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990088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4C5563"/>
                </a:solidFill>
                <a:latin typeface="Consolas"/>
              </a:rPr>
              <a:t>17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57016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4C5563"/>
                </a:solidFill>
                <a:latin typeface="Calibri"/>
              </a:rPr>
              <a:t>Assets, assign &amp; return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3611880"/>
            <a:ext cx="5486400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49039" y="3611880"/>
            <a:ext cx="2743200" cy="237744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3557016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4C5563"/>
                </a:solidFill>
                <a:latin typeface="Consolas"/>
              </a:rPr>
              <a:t>21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23944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4C5563"/>
                </a:solidFill>
                <a:latin typeface="Calibri"/>
              </a:rPr>
              <a:t>Dashboard summary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4178808"/>
            <a:ext cx="5486400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749039" y="417880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4123944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4C5563"/>
                </a:solidFill>
                <a:latin typeface="Consolas"/>
              </a:rPr>
              <a:t>7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69087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4C5563"/>
                </a:solidFill>
                <a:latin typeface="Calibri"/>
              </a:rPr>
              <a:t>Users &amp; accounts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49039" y="4745736"/>
            <a:ext cx="5486400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749039" y="4745736"/>
            <a:ext cx="5486400" cy="237744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4690872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4C5563"/>
                </a:solidFill>
                <a:latin typeface="Consolas"/>
              </a:rPr>
              <a:t>42 tests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623560"/>
            <a:ext cx="10515600" cy="777240"/>
          </a:xfrm>
          <a:prstGeom prst="roundRect">
            <a:avLst>
              <a:gd name="adj" fmla="val 8000"/>
            </a:avLst>
          </a:prstGeom>
          <a:solidFill>
            <a:srgbClr val="E7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623560"/>
            <a:ext cx="10058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71B23"/>
                </a:solidFill>
                <a:latin typeface="Calibri"/>
              </a:rPr>
              <a:t>End to end, live: </a:t>
            </a:r>
            <a:r>
              <a:rPr sz="1300" b="0" i="0">
                <a:solidFill>
                  <a:srgbClr val="4C5563"/>
                </a:solidFill>
                <a:latin typeface="Calibri"/>
              </a:rPr>
              <a:t>product → stock-in → asset created → assigned → history recorded with names → returned — plus every invalid action correctly rejected.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8A92A3"/>
                </a:solidFill>
                <a:latin typeface="Consolas"/>
              </a:rPr>
              <a:t>STOCKFLOW</a:t>
            </a:r>
            <a:r>
              <a:rPr sz="900" b="0" i="0">
                <a:solidFill>
                  <a:srgbClr val="8A92A3"/>
                </a:solidFill>
                <a:latin typeface="Calibri"/>
              </a:rPr>
              <a:t>  ·  internal inventory &amp; asset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92A3"/>
                </a:solidFill>
                <a:latin typeface="Consolas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94360"/>
            <a:ext cx="502920" cy="292608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8A92A3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4864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71B23"/>
                </a:solidFill>
                <a:latin typeface="Georgia"/>
              </a:rPr>
              <a:t>Demo sign-ins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1234440"/>
            <a:ext cx="10515600" cy="0"/>
          </a:xfrm>
          <a:prstGeom prst="line">
            <a:avLst/>
          </a:prstGeom>
          <a:ln w="12700">
            <a:solidFill>
              <a:srgbClr val="DD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2960" y="1920240"/>
            <a:ext cx="32918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3291840" cy="822960"/>
          </a:xfrm>
          <a:prstGeom prst="roundRect">
            <a:avLst>
              <a:gd name="adj" fmla="val 6000"/>
            </a:avLst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762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F5FD6"/>
                </a:solidFill>
                <a:latin typeface="Calibri"/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8A92A3"/>
                </a:solidFill>
                <a:latin typeface="Consolas"/>
              </a:rP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375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71B23"/>
                </a:solidFill>
                <a:latin typeface="Consolas"/>
              </a:rPr>
              <a:t>dyadav@staunchsys.com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77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8A92A3"/>
                </a:solidFill>
                <a:latin typeface="Consolas"/>
              </a:rPr>
              <a:t>PASSWORD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519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71B23"/>
                </a:solidFill>
                <a:latin typeface="Consolas"/>
              </a:rPr>
              <a:t>Demo@123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920240"/>
            <a:ext cx="32918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1920240"/>
            <a:ext cx="3291840" cy="822960"/>
          </a:xfrm>
          <a:prstGeom prst="roundRect">
            <a:avLst>
              <a:gd name="adj" fmla="val 6000"/>
            </a:avLst>
          </a:prstGeom>
          <a:solidFill>
            <a:srgbClr val="FB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1762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A5610A"/>
                </a:solidFill>
                <a:latin typeface="Calibri"/>
              </a:rPr>
              <a:t>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063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8A92A3"/>
                </a:solidFill>
                <a:latin typeface="Consolas"/>
              </a:rPr>
              <a:t>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3375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71B23"/>
                </a:solidFill>
                <a:latin typeface="Consolas"/>
              </a:rPr>
              <a:t>apawar@staunchsys.com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977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8A92A3"/>
                </a:solidFill>
                <a:latin typeface="Consolas"/>
              </a:rPr>
              <a:t>PASSWORD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2519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71B23"/>
                </a:solidFill>
                <a:latin typeface="Consolas"/>
              </a:rPr>
              <a:t>Demo@123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920240"/>
            <a:ext cx="32918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0" y="1920240"/>
            <a:ext cx="3291840" cy="822960"/>
          </a:xfrm>
          <a:prstGeom prst="roundRect">
            <a:avLst>
              <a:gd name="adj" fmla="val 6000"/>
            </a:avLst>
          </a:prstGeom>
          <a:solidFill>
            <a:srgbClr val="E7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1762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5803D"/>
                </a:solidFill>
                <a:latin typeface="Calibri"/>
              </a:rPr>
              <a:t>EMPLOYEE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063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8A92A3"/>
                </a:solidFill>
                <a:latin typeface="Consolas"/>
              </a:rPr>
              <a:t>EMAIL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3375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71B23"/>
                </a:solidFill>
                <a:latin typeface="Consolas"/>
              </a:rPr>
              <a:t>vchoudhary@staunchsys.com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977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8A92A3"/>
                </a:solidFill>
                <a:latin typeface="Consolas"/>
              </a:rPr>
              <a:t>PASSWORD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2519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71B23"/>
                </a:solidFill>
                <a:latin typeface="Consolas"/>
              </a:rPr>
              <a:t>Demo@123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8A92A3"/>
                </a:solidFill>
                <a:latin typeface="Consolas"/>
              </a:rPr>
              <a:t>STOCKFLOW</a:t>
            </a:r>
            <a:r>
              <a:rPr sz="900" b="0" i="0">
                <a:solidFill>
                  <a:srgbClr val="8A92A3"/>
                </a:solidFill>
                <a:latin typeface="Calibri"/>
              </a:rPr>
              <a:t>  ·  internal inventory &amp; asset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92A3"/>
                </a:solidFill>
                <a:latin typeface="Consolas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94360"/>
            <a:ext cx="502920" cy="292608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8A92A3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4864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71B23"/>
                </a:solidFill>
                <a:latin typeface="Georgia"/>
              </a:rPr>
              <a:t>Open items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1234440"/>
            <a:ext cx="10515600" cy="0"/>
          </a:xfrm>
          <a:prstGeom prst="line">
            <a:avLst/>
          </a:prstGeom>
          <a:ln w="12700">
            <a:solidFill>
              <a:srgbClr val="DD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2960" y="1828800"/>
            <a:ext cx="10515600" cy="2377440"/>
          </a:xfrm>
          <a:prstGeom prst="roundRect">
            <a:avLst>
              <a:gd name="adj" fmla="val 5000"/>
            </a:avLst>
          </a:prstGeom>
          <a:solidFill>
            <a:srgbClr val="FB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91440" cy="2377440"/>
          </a:xfrm>
          <a:prstGeom prst="rect">
            <a:avLst/>
          </a:prstGeom>
          <a:solidFill>
            <a:srgbClr val="A56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4884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71B23"/>
                </a:solidFill>
                <a:latin typeface="Calibri"/>
              </a:rPr>
              <a:t>Self-service “forgot password” is not enabled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9784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4C5563"/>
                </a:solidFill>
                <a:latin typeface="Calibri"/>
              </a:rPr>
              <a:t>A working email-reset flow was built and tested, then removed after discovering the outbound email provider can't yet deliver to arbitrary @staunchsys.com inboxes — that requires DNS records added by whoever administers the staunchsys.com domain. Until then, an admin resets passwords directly from the Users page.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8A92A3"/>
                </a:solidFill>
                <a:latin typeface="Consolas"/>
              </a:rPr>
              <a:t>STOCKFLOW</a:t>
            </a:r>
            <a:r>
              <a:rPr sz="900" b="0" i="0">
                <a:solidFill>
                  <a:srgbClr val="8A92A3"/>
                </a:solidFill>
                <a:latin typeface="Calibri"/>
              </a:rPr>
              <a:t>  ·  internal inventory &amp; asset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92A3"/>
                </a:solidFill>
                <a:latin typeface="Consolas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2860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F5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onsolas"/>
              </a:rPr>
              <a:t>SF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2331720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StockFlow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Ready to walk through.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AAB4C8"/>
                </a:solidFill>
                <a:latin typeface="Calibri"/>
              </a:rPr>
              <a:t>Questions, edge cases, and next-feature requests welcome.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B7385"/>
                </a:solidFill>
                <a:latin typeface="Consolas"/>
              </a:rPr>
              <a:t>STOCKFLOW</a:t>
            </a:r>
            <a:r>
              <a:rPr sz="900" b="0" i="0">
                <a:solidFill>
                  <a:srgbClr val="6B7385"/>
                </a:solidFill>
                <a:latin typeface="Calibri"/>
              </a:rPr>
              <a:t>  ·  internal inventory &amp; asset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0936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Consolas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